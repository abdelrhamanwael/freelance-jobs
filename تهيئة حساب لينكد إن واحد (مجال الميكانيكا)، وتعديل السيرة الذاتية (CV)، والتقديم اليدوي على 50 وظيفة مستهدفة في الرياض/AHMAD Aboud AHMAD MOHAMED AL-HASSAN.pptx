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Lst>
  <p:sldSz cx="7556500" cy="10693400"/>
  <p:notesSz cx="6858000" cy="9144000"/>
  <p:embeddedFontLst>
    <p:embeddedFont>
      <p:font typeface="Inter Bold" charset="1" panose="020B0802030000000004"/>
      <p:regular r:id="rId8"/>
    </p:embeddedFont>
    <p:embeddedFont>
      <p:font typeface="Inter" charset="1" panose="020B0502030000000004"/>
      <p:regular r:id="rId9"/>
    </p:embeddedFont>
    <p:embeddedFont>
      <p:font typeface="Inter Semi-Bold" charset="1" panose="02000503000000020004"/>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ailto:wikiampere@gmail.com" TargetMode="External" Type="http://schemas.openxmlformats.org/officeDocument/2006/relationships/hyperlink"/><Relationship Id="rId3" Target="tel:+966530825242" TargetMode="External" Type="http://schemas.openxmlformats.org/officeDocument/2006/relationships/hyperlink"/><Relationship Id="rId4" Target="http://linkedin.com/in/ahmed-aboud-ba2779a1"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32080" y="1211556"/>
            <a:ext cx="6660000" cy="0"/>
          </a:xfrm>
          <a:prstGeom prst="line">
            <a:avLst/>
          </a:prstGeom>
          <a:ln cap="rnd" w="28575">
            <a:solidFill>
              <a:srgbClr val="1E1E1E"/>
            </a:solidFill>
            <a:prstDash val="solid"/>
            <a:headEnd type="none" len="sm" w="sm"/>
            <a:tailEnd type="none" len="sm" w="sm"/>
          </a:ln>
        </p:spPr>
      </p:sp>
      <p:sp>
        <p:nvSpPr>
          <p:cNvPr name="TextBox 3" id="3"/>
          <p:cNvSpPr txBox="true"/>
          <p:nvPr/>
        </p:nvSpPr>
        <p:spPr>
          <a:xfrm rot="0">
            <a:off x="432080" y="104011"/>
            <a:ext cx="7127920" cy="365759"/>
          </a:xfrm>
          <a:prstGeom prst="rect">
            <a:avLst/>
          </a:prstGeom>
        </p:spPr>
        <p:txBody>
          <a:bodyPr anchor="t" rtlCol="false" tIns="0" lIns="0" bIns="0" rIns="0">
            <a:spAutoFit/>
          </a:bodyPr>
          <a:lstStyle/>
          <a:p>
            <a:pPr algn="l" marL="0" indent="0" lvl="0">
              <a:lnSpc>
                <a:spcPts val="2940"/>
              </a:lnSpc>
              <a:spcBef>
                <a:spcPct val="0"/>
              </a:spcBef>
            </a:pPr>
            <a:r>
              <a:rPr lang="en-US" b="true" sz="2100">
                <a:solidFill>
                  <a:srgbClr val="1E1E1E"/>
                </a:solidFill>
                <a:latin typeface="Inter Bold"/>
                <a:ea typeface="Inter Bold"/>
                <a:cs typeface="Inter Bold"/>
                <a:sym typeface="Inter Bold"/>
              </a:rPr>
              <a:t>AHMAD ABOUD AHMAD MOHAMED AL-HASSAN</a:t>
            </a:r>
          </a:p>
        </p:txBody>
      </p:sp>
      <p:sp>
        <p:nvSpPr>
          <p:cNvPr name="TextBox 4" id="4"/>
          <p:cNvSpPr txBox="true"/>
          <p:nvPr/>
        </p:nvSpPr>
        <p:spPr>
          <a:xfrm rot="0">
            <a:off x="432080" y="898134"/>
            <a:ext cx="7314526" cy="174625"/>
          </a:xfrm>
          <a:prstGeom prst="rect">
            <a:avLst/>
          </a:prstGeom>
        </p:spPr>
        <p:txBody>
          <a:bodyPr anchor="t" rtlCol="false" tIns="0" lIns="0" bIns="0" rIns="0">
            <a:spAutoFit/>
          </a:bodyPr>
          <a:lstStyle/>
          <a:p>
            <a:pPr algn="l">
              <a:lnSpc>
                <a:spcPts val="1400"/>
              </a:lnSpc>
              <a:spcBef>
                <a:spcPct val="0"/>
              </a:spcBef>
            </a:pPr>
            <a:r>
              <a:rPr lang="en-US" sz="1000">
                <a:solidFill>
                  <a:srgbClr val="1E1E1E"/>
                </a:solidFill>
                <a:latin typeface="Inter"/>
                <a:ea typeface="Inter"/>
                <a:cs typeface="Inter"/>
                <a:sym typeface="Inter"/>
              </a:rPr>
              <a:t>Riyadh, Saudi Arabia |</a:t>
            </a:r>
            <a:r>
              <a:rPr lang="en-US" sz="1000" u="sng">
                <a:solidFill>
                  <a:srgbClr val="1E1E1E"/>
                </a:solidFill>
                <a:latin typeface="Inter"/>
                <a:ea typeface="Inter"/>
                <a:cs typeface="Inter"/>
                <a:sym typeface="Inter"/>
                <a:hlinkClick r:id="rId2" tooltip="mailto:wikiampere@gmail.com"/>
              </a:rPr>
              <a:t> wikiampere@gmail.com</a:t>
            </a:r>
            <a:r>
              <a:rPr lang="en-US" sz="1000">
                <a:solidFill>
                  <a:srgbClr val="1E1E1E"/>
                </a:solidFill>
                <a:latin typeface="Inter"/>
                <a:ea typeface="Inter"/>
                <a:cs typeface="Inter"/>
                <a:sym typeface="Inter"/>
              </a:rPr>
              <a:t> | </a:t>
            </a:r>
            <a:r>
              <a:rPr lang="en-US" sz="1000" u="sng">
                <a:solidFill>
                  <a:srgbClr val="1E1E1E"/>
                </a:solidFill>
                <a:latin typeface="Inter"/>
                <a:ea typeface="Inter"/>
                <a:cs typeface="Inter"/>
                <a:sym typeface="Inter"/>
                <a:hlinkClick r:id="rId3" tooltip="tel:+966530825242"/>
              </a:rPr>
              <a:t>+966 530825242 </a:t>
            </a:r>
            <a:r>
              <a:rPr lang="en-US" sz="1000">
                <a:solidFill>
                  <a:srgbClr val="1E1E1E"/>
                </a:solidFill>
                <a:latin typeface="Inter"/>
                <a:ea typeface="Inter"/>
                <a:cs typeface="Inter"/>
                <a:sym typeface="Inter"/>
              </a:rPr>
              <a:t>| </a:t>
            </a:r>
            <a:r>
              <a:rPr lang="en-US" sz="1000" u="sng">
                <a:solidFill>
                  <a:srgbClr val="1E1E1E"/>
                </a:solidFill>
                <a:latin typeface="Inter"/>
                <a:ea typeface="Inter"/>
                <a:cs typeface="Inter"/>
                <a:sym typeface="Inter"/>
                <a:hlinkClick r:id="rId4" tooltip="http://linkedin.com/in/ahmed-aboud-ba2779a1"/>
              </a:rPr>
              <a:t>linkedin.com/in/ahmed-aboud-ba2779a1</a:t>
            </a:r>
          </a:p>
        </p:txBody>
      </p:sp>
      <p:sp>
        <p:nvSpPr>
          <p:cNvPr name="TextBox 5" id="5"/>
          <p:cNvSpPr txBox="true"/>
          <p:nvPr/>
        </p:nvSpPr>
        <p:spPr>
          <a:xfrm rot="0">
            <a:off x="432080" y="579364"/>
            <a:ext cx="7217559" cy="224155"/>
          </a:xfrm>
          <a:prstGeom prst="rect">
            <a:avLst/>
          </a:prstGeom>
        </p:spPr>
        <p:txBody>
          <a:bodyPr anchor="t" rtlCol="false" tIns="0" lIns="0" bIns="0" rIns="0">
            <a:spAutoFit/>
          </a:bodyPr>
          <a:lstStyle/>
          <a:p>
            <a:pPr algn="l">
              <a:lnSpc>
                <a:spcPts val="1819"/>
              </a:lnSpc>
              <a:spcBef>
                <a:spcPct val="0"/>
              </a:spcBef>
            </a:pPr>
            <a:r>
              <a:rPr lang="en-US" b="true" sz="1299">
                <a:solidFill>
                  <a:srgbClr val="1E1E1E"/>
                </a:solidFill>
                <a:latin typeface="Inter Bold"/>
                <a:ea typeface="Inter Bold"/>
                <a:cs typeface="Inter Bold"/>
                <a:sym typeface="Inter Bold"/>
              </a:rPr>
              <a:t>MECHANICAL ENGINEER | TRAINER | PROJECT MANAGEMENT PROFESSIONAL</a:t>
            </a:r>
          </a:p>
        </p:txBody>
      </p:sp>
      <p:sp>
        <p:nvSpPr>
          <p:cNvPr name="TextBox 6" id="6"/>
          <p:cNvSpPr txBox="true"/>
          <p:nvPr/>
        </p:nvSpPr>
        <p:spPr>
          <a:xfrm rot="0">
            <a:off x="467920" y="1683868"/>
            <a:ext cx="6660000" cy="1905635"/>
          </a:xfrm>
          <a:prstGeom prst="rect">
            <a:avLst/>
          </a:prstGeom>
        </p:spPr>
        <p:txBody>
          <a:bodyPr anchor="t" rtlCol="false" tIns="0" lIns="0" bIns="0" rIns="0">
            <a:spAutoFit/>
          </a:bodyPr>
          <a:lstStyle/>
          <a:p>
            <a:pPr algn="just">
              <a:lnSpc>
                <a:spcPts val="1540"/>
              </a:lnSpc>
            </a:pPr>
            <a:r>
              <a:rPr lang="en-US" sz="1100">
                <a:solidFill>
                  <a:srgbClr val="1E1E1E"/>
                </a:solidFill>
                <a:latin typeface="Inter"/>
                <a:ea typeface="Inter"/>
                <a:cs typeface="Inter"/>
                <a:sym typeface="Inter"/>
              </a:rPr>
              <a:t>Highly accomplished Mechanical Engineer with 7+ years of hands-on experience in HVAC systems, hydraulic networks, renewable energy projects, and mechanical maintenance. Proven ability to design, implement, and optimize complex engineering systems while ensuring efficiency, reliability, and safety across all project stages.</a:t>
            </a:r>
          </a:p>
          <a:p>
            <a:pPr algn="just">
              <a:lnSpc>
                <a:spcPts val="1540"/>
              </a:lnSpc>
            </a:pPr>
            <a:r>
              <a:rPr lang="en-US" sz="1100">
                <a:solidFill>
                  <a:srgbClr val="1E1E1E"/>
                </a:solidFill>
                <a:latin typeface="Inter"/>
                <a:ea typeface="Inter"/>
                <a:cs typeface="Inter"/>
                <a:sym typeface="Inter"/>
              </a:rPr>
              <a:t>Expert in AutoCAD, project management (PMP, RMP, CMRP), and preventive maintenance strategies, with a strong record of leading multidisciplinary teams to deliver high-performance results in fast-paced industrial environments.</a:t>
            </a:r>
          </a:p>
          <a:p>
            <a:pPr algn="just">
              <a:lnSpc>
                <a:spcPts val="1540"/>
              </a:lnSpc>
              <a:spcBef>
                <a:spcPct val="0"/>
              </a:spcBef>
            </a:pPr>
            <a:r>
              <a:rPr lang="en-US" sz="1100">
                <a:solidFill>
                  <a:srgbClr val="1E1E1E"/>
                </a:solidFill>
                <a:latin typeface="Inter"/>
                <a:ea typeface="Inter"/>
                <a:cs typeface="Inter"/>
                <a:sym typeface="Inter"/>
              </a:rPr>
              <a:t>Recognized for technical innovation, leadership, and professional training excellence, having mentored and coached hundreds of engineers and technicians in mechanical, hydraulic, and renewable energy systems.</a:t>
            </a:r>
          </a:p>
        </p:txBody>
      </p:sp>
      <p:sp>
        <p:nvSpPr>
          <p:cNvPr name="AutoShape 7" id="7"/>
          <p:cNvSpPr/>
          <p:nvPr/>
        </p:nvSpPr>
        <p:spPr>
          <a:xfrm>
            <a:off x="432080" y="1641005"/>
            <a:ext cx="6660000" cy="0"/>
          </a:xfrm>
          <a:prstGeom prst="line">
            <a:avLst/>
          </a:prstGeom>
          <a:ln cap="rnd" w="9525">
            <a:solidFill>
              <a:srgbClr val="1E1E1E"/>
            </a:solidFill>
            <a:prstDash val="solid"/>
            <a:headEnd type="none" len="sm" w="sm"/>
            <a:tailEnd type="none" len="sm" w="sm"/>
          </a:ln>
        </p:spPr>
      </p:sp>
      <p:sp>
        <p:nvSpPr>
          <p:cNvPr name="TextBox 8" id="8"/>
          <p:cNvSpPr txBox="true"/>
          <p:nvPr/>
        </p:nvSpPr>
        <p:spPr>
          <a:xfrm rot="0">
            <a:off x="432080" y="1402863"/>
            <a:ext cx="6660000" cy="207645"/>
          </a:xfrm>
          <a:prstGeom prst="rect">
            <a:avLst/>
          </a:prstGeom>
        </p:spPr>
        <p:txBody>
          <a:bodyPr anchor="t" rtlCol="false" tIns="0" lIns="0" bIns="0" rIns="0">
            <a:spAutoFit/>
          </a:bodyPr>
          <a:lstStyle/>
          <a:p>
            <a:pPr algn="l">
              <a:lnSpc>
                <a:spcPts val="1679"/>
              </a:lnSpc>
              <a:spcBef>
                <a:spcPct val="0"/>
              </a:spcBef>
            </a:pPr>
            <a:r>
              <a:rPr lang="en-US" b="true" sz="1200">
                <a:solidFill>
                  <a:srgbClr val="1E1E1E"/>
                </a:solidFill>
                <a:latin typeface="Inter Bold"/>
                <a:ea typeface="Inter Bold"/>
                <a:cs typeface="Inter Bold"/>
                <a:sym typeface="Inter Bold"/>
              </a:rPr>
              <a:t>PROFESSIONAL SUMMARY</a:t>
            </a:r>
          </a:p>
        </p:txBody>
      </p:sp>
      <p:sp>
        <p:nvSpPr>
          <p:cNvPr name="AutoShape 9" id="9"/>
          <p:cNvSpPr/>
          <p:nvPr/>
        </p:nvSpPr>
        <p:spPr>
          <a:xfrm>
            <a:off x="432080" y="4011460"/>
            <a:ext cx="6660000" cy="0"/>
          </a:xfrm>
          <a:prstGeom prst="line">
            <a:avLst/>
          </a:prstGeom>
          <a:ln cap="rnd" w="9525">
            <a:solidFill>
              <a:srgbClr val="1E1E1E"/>
            </a:solidFill>
            <a:prstDash val="solid"/>
            <a:headEnd type="none" len="sm" w="sm"/>
            <a:tailEnd type="none" len="sm" w="sm"/>
          </a:ln>
        </p:spPr>
      </p:sp>
      <p:sp>
        <p:nvSpPr>
          <p:cNvPr name="TextBox 10" id="10"/>
          <p:cNvSpPr txBox="true"/>
          <p:nvPr/>
        </p:nvSpPr>
        <p:spPr>
          <a:xfrm rot="0">
            <a:off x="432080" y="3770478"/>
            <a:ext cx="6660000" cy="207645"/>
          </a:xfrm>
          <a:prstGeom prst="rect">
            <a:avLst/>
          </a:prstGeom>
        </p:spPr>
        <p:txBody>
          <a:bodyPr anchor="t" rtlCol="false" tIns="0" lIns="0" bIns="0" rIns="0">
            <a:spAutoFit/>
          </a:bodyPr>
          <a:lstStyle/>
          <a:p>
            <a:pPr algn="l">
              <a:lnSpc>
                <a:spcPts val="1679"/>
              </a:lnSpc>
              <a:spcBef>
                <a:spcPct val="0"/>
              </a:spcBef>
            </a:pPr>
            <a:r>
              <a:rPr lang="en-US" b="true" sz="1200">
                <a:solidFill>
                  <a:srgbClr val="1E1E1E"/>
                </a:solidFill>
                <a:latin typeface="Inter Bold"/>
                <a:ea typeface="Inter Bold"/>
                <a:cs typeface="Inter Bold"/>
                <a:sym typeface="Inter Bold"/>
              </a:rPr>
              <a:t>SKILLS</a:t>
            </a:r>
          </a:p>
        </p:txBody>
      </p:sp>
      <p:sp>
        <p:nvSpPr>
          <p:cNvPr name="TextBox 11" id="11"/>
          <p:cNvSpPr txBox="true"/>
          <p:nvPr/>
        </p:nvSpPr>
        <p:spPr>
          <a:xfrm rot="0">
            <a:off x="467920" y="4006698"/>
            <a:ext cx="6372000" cy="2286635"/>
          </a:xfrm>
          <a:prstGeom prst="rect">
            <a:avLst/>
          </a:prstGeom>
        </p:spPr>
        <p:txBody>
          <a:bodyPr anchor="t" rtlCol="false" tIns="0" lIns="0" bIns="0" rIns="0">
            <a:spAutoFit/>
          </a:bodyPr>
          <a:lstStyle/>
          <a:p>
            <a:pPr algn="l" marL="237491" indent="-118745" lvl="1">
              <a:lnSpc>
                <a:spcPts val="1540"/>
              </a:lnSpc>
              <a:buFont typeface="Arial"/>
              <a:buChar char="•"/>
            </a:pPr>
            <a:r>
              <a:rPr lang="en-US" sz="1100">
                <a:solidFill>
                  <a:srgbClr val="1E1E1E"/>
                </a:solidFill>
                <a:latin typeface="Inter"/>
                <a:ea typeface="Inter"/>
                <a:cs typeface="Inter"/>
                <a:sym typeface="Inter"/>
              </a:rPr>
              <a:t>HVAC &amp; Firefighting System Design</a:t>
            </a:r>
          </a:p>
          <a:p>
            <a:pPr algn="l" marL="237491" indent="-118745" lvl="1">
              <a:lnSpc>
                <a:spcPts val="1540"/>
              </a:lnSpc>
              <a:buFont typeface="Arial"/>
              <a:buChar char="•"/>
            </a:pPr>
            <a:r>
              <a:rPr lang="en-US" sz="1100">
                <a:solidFill>
                  <a:srgbClr val="1E1E1E"/>
                </a:solidFill>
                <a:latin typeface="Inter"/>
                <a:ea typeface="Inter"/>
                <a:cs typeface="Inter"/>
                <a:sym typeface="Inter"/>
              </a:rPr>
              <a:t>Hydraulic Systems &amp; Maintenance</a:t>
            </a:r>
          </a:p>
          <a:p>
            <a:pPr algn="l" marL="237491" indent="-118745" lvl="1">
              <a:lnSpc>
                <a:spcPts val="1540"/>
              </a:lnSpc>
              <a:buFont typeface="Arial"/>
              <a:buChar char="•"/>
            </a:pPr>
            <a:r>
              <a:rPr lang="en-US" sz="1100">
                <a:solidFill>
                  <a:srgbClr val="1E1E1E"/>
                </a:solidFill>
                <a:latin typeface="Inter"/>
                <a:ea typeface="Inter"/>
                <a:cs typeface="Inter"/>
                <a:sym typeface="Inter"/>
              </a:rPr>
              <a:t>AutoCAD &amp; Technical Drafting</a:t>
            </a:r>
          </a:p>
          <a:p>
            <a:pPr algn="l" marL="237491" indent="-118745" lvl="1">
              <a:lnSpc>
                <a:spcPts val="1540"/>
              </a:lnSpc>
              <a:buFont typeface="Arial"/>
              <a:buChar char="•"/>
            </a:pPr>
            <a:r>
              <a:rPr lang="en-US" sz="1100">
                <a:solidFill>
                  <a:srgbClr val="1E1E1E"/>
                </a:solidFill>
                <a:latin typeface="Inter"/>
                <a:ea typeface="Inter"/>
                <a:cs typeface="Inter"/>
                <a:sym typeface="Inter"/>
              </a:rPr>
              <a:t>Renewable Energy Applications</a:t>
            </a:r>
          </a:p>
          <a:p>
            <a:pPr algn="l" marL="237491" indent="-118745" lvl="1">
              <a:lnSpc>
                <a:spcPts val="1540"/>
              </a:lnSpc>
              <a:buFont typeface="Arial"/>
              <a:buChar char="•"/>
            </a:pPr>
            <a:r>
              <a:rPr lang="en-US" sz="1100">
                <a:solidFill>
                  <a:srgbClr val="1E1E1E"/>
                </a:solidFill>
                <a:latin typeface="Inter"/>
                <a:ea typeface="Inter"/>
                <a:cs typeface="Inter"/>
                <a:sym typeface="Inter"/>
              </a:rPr>
              <a:t>Project Management (PMP, RMP, CMRP)</a:t>
            </a:r>
          </a:p>
          <a:p>
            <a:pPr algn="l" marL="237491" indent="-118745" lvl="1">
              <a:lnSpc>
                <a:spcPts val="1540"/>
              </a:lnSpc>
              <a:buFont typeface="Arial"/>
              <a:buChar char="•"/>
            </a:pPr>
            <a:r>
              <a:rPr lang="en-US" sz="1100">
                <a:solidFill>
                  <a:srgbClr val="1E1E1E"/>
                </a:solidFill>
                <a:latin typeface="Inter"/>
                <a:ea typeface="Inter"/>
                <a:cs typeface="Inter"/>
                <a:sym typeface="Inter"/>
              </a:rPr>
              <a:t>Preventive &amp; Corrective Maintenance</a:t>
            </a:r>
          </a:p>
          <a:p>
            <a:pPr algn="l" marL="237491" indent="-118745" lvl="1">
              <a:lnSpc>
                <a:spcPts val="1540"/>
              </a:lnSpc>
              <a:buFont typeface="Arial"/>
              <a:buChar char="•"/>
            </a:pPr>
            <a:r>
              <a:rPr lang="en-US" sz="1100">
                <a:solidFill>
                  <a:srgbClr val="1E1E1E"/>
                </a:solidFill>
                <a:latin typeface="Inter"/>
                <a:ea typeface="Inter"/>
                <a:cs typeface="Inter"/>
                <a:sym typeface="Inter"/>
              </a:rPr>
              <a:t>Root Cause Analysis &amp; Problem Solving</a:t>
            </a:r>
          </a:p>
          <a:p>
            <a:pPr algn="l" marL="237491" indent="-118745" lvl="1">
              <a:lnSpc>
                <a:spcPts val="1540"/>
              </a:lnSpc>
              <a:buFont typeface="Arial"/>
              <a:buChar char="•"/>
            </a:pPr>
            <a:r>
              <a:rPr lang="en-US" sz="1100">
                <a:solidFill>
                  <a:srgbClr val="1E1E1E"/>
                </a:solidFill>
                <a:latin typeface="Inter"/>
                <a:ea typeface="Inter"/>
                <a:cs typeface="Inter"/>
                <a:sym typeface="Inter"/>
              </a:rPr>
              <a:t>Leadership &amp; Team Supervision</a:t>
            </a:r>
          </a:p>
          <a:p>
            <a:pPr algn="l" marL="237491" indent="-118745" lvl="1">
              <a:lnSpc>
                <a:spcPts val="1540"/>
              </a:lnSpc>
              <a:buFont typeface="Arial"/>
              <a:buChar char="•"/>
            </a:pPr>
            <a:r>
              <a:rPr lang="en-US" sz="1100">
                <a:solidFill>
                  <a:srgbClr val="1E1E1E"/>
                </a:solidFill>
                <a:latin typeface="Inter"/>
                <a:ea typeface="Inter"/>
                <a:cs typeface="Inter"/>
                <a:sym typeface="Inter"/>
              </a:rPr>
              <a:t>AI in Project Planning &amp; Monitoring</a:t>
            </a:r>
          </a:p>
          <a:p>
            <a:pPr algn="l" marL="237491" indent="-118745" lvl="1">
              <a:lnSpc>
                <a:spcPts val="1540"/>
              </a:lnSpc>
              <a:buFont typeface="Arial"/>
              <a:buChar char="•"/>
            </a:pPr>
            <a:r>
              <a:rPr lang="en-US" sz="1100">
                <a:solidFill>
                  <a:srgbClr val="1E1E1E"/>
                </a:solidFill>
                <a:latin typeface="Inter"/>
                <a:ea typeface="Inter"/>
                <a:cs typeface="Inter"/>
                <a:sym typeface="Inter"/>
              </a:rPr>
              <a:t>Computer &amp; Software Maintenance</a:t>
            </a:r>
          </a:p>
          <a:p>
            <a:pPr algn="l" marL="237491" indent="-118745" lvl="1">
              <a:lnSpc>
                <a:spcPts val="1540"/>
              </a:lnSpc>
              <a:buFont typeface="Arial"/>
              <a:buChar char="•"/>
            </a:pPr>
            <a:r>
              <a:rPr lang="en-US" sz="1100">
                <a:solidFill>
                  <a:srgbClr val="1E1E1E"/>
                </a:solidFill>
                <a:latin typeface="Inter"/>
                <a:ea typeface="Inter"/>
                <a:cs typeface="Inter"/>
                <a:sym typeface="Inter"/>
              </a:rPr>
              <a:t>Safety &amp; Quality Compliance</a:t>
            </a:r>
          </a:p>
          <a:p>
            <a:pPr algn="l" marL="237491" indent="-118745" lvl="1">
              <a:lnSpc>
                <a:spcPts val="1540"/>
              </a:lnSpc>
              <a:buFont typeface="Arial"/>
              <a:buChar char="•"/>
            </a:pPr>
            <a:r>
              <a:rPr lang="en-US" sz="1100">
                <a:solidFill>
                  <a:srgbClr val="1E1E1E"/>
                </a:solidFill>
                <a:latin typeface="Inter"/>
                <a:ea typeface="Inter"/>
                <a:cs typeface="Inter"/>
                <a:sym typeface="Inter"/>
              </a:rPr>
              <a:t>Bilingual: Arabic &amp; English</a:t>
            </a:r>
          </a:p>
        </p:txBody>
      </p:sp>
      <p:sp>
        <p:nvSpPr>
          <p:cNvPr name="TextBox 12" id="12"/>
          <p:cNvSpPr txBox="true"/>
          <p:nvPr/>
        </p:nvSpPr>
        <p:spPr>
          <a:xfrm rot="0">
            <a:off x="5177310" y="6634328"/>
            <a:ext cx="1914770" cy="191135"/>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June 2016</a:t>
            </a:r>
          </a:p>
        </p:txBody>
      </p:sp>
      <p:sp>
        <p:nvSpPr>
          <p:cNvPr name="AutoShape 13" id="13"/>
          <p:cNvSpPr/>
          <p:nvPr/>
        </p:nvSpPr>
        <p:spPr>
          <a:xfrm>
            <a:off x="432080" y="6562890"/>
            <a:ext cx="6660000" cy="0"/>
          </a:xfrm>
          <a:prstGeom prst="line">
            <a:avLst/>
          </a:prstGeom>
          <a:ln cap="rnd" w="9525">
            <a:solidFill>
              <a:srgbClr val="1E1E1E"/>
            </a:solidFill>
            <a:prstDash val="solid"/>
            <a:headEnd type="none" len="sm" w="sm"/>
            <a:tailEnd type="none" len="sm" w="sm"/>
          </a:ln>
        </p:spPr>
      </p:sp>
      <p:sp>
        <p:nvSpPr>
          <p:cNvPr name="TextBox 14" id="14"/>
          <p:cNvSpPr txBox="true"/>
          <p:nvPr/>
        </p:nvSpPr>
        <p:spPr>
          <a:xfrm rot="0">
            <a:off x="432080" y="6624803"/>
            <a:ext cx="4961868" cy="762635"/>
          </a:xfrm>
          <a:prstGeom prst="rect">
            <a:avLst/>
          </a:prstGeom>
        </p:spPr>
        <p:txBody>
          <a:bodyPr anchor="t" rtlCol="false" tIns="0" lIns="0" bIns="0" rIns="0">
            <a:spAutoFit/>
          </a:bodyPr>
          <a:lstStyle/>
          <a:p>
            <a:pPr algn="l">
              <a:lnSpc>
                <a:spcPts val="1540"/>
              </a:lnSpc>
            </a:pPr>
            <a:r>
              <a:rPr lang="en-US" sz="1100" b="true">
                <a:solidFill>
                  <a:srgbClr val="1E1E1E"/>
                </a:solidFill>
                <a:latin typeface="Inter Bold"/>
                <a:ea typeface="Inter Bold"/>
                <a:cs typeface="Inter Bold"/>
                <a:sym typeface="Inter Bold"/>
              </a:rPr>
              <a:t>Bachelor’s Degree in Mechanical Engineering</a:t>
            </a:r>
          </a:p>
          <a:p>
            <a:pPr algn="l">
              <a:lnSpc>
                <a:spcPts val="1540"/>
              </a:lnSpc>
            </a:pPr>
            <a:r>
              <a:rPr lang="en-US" sz="1100">
                <a:solidFill>
                  <a:srgbClr val="1E1E1E"/>
                </a:solidFill>
                <a:latin typeface="Inter"/>
                <a:ea typeface="Inter"/>
                <a:cs typeface="Inter"/>
                <a:sym typeface="Inter"/>
              </a:rPr>
              <a:t>Nile Valley University – Sudan</a:t>
            </a:r>
          </a:p>
          <a:p>
            <a:pPr algn="l">
              <a:lnSpc>
                <a:spcPts val="1540"/>
              </a:lnSpc>
            </a:pPr>
            <a:r>
              <a:rPr lang="en-US" sz="1100" b="true">
                <a:solidFill>
                  <a:srgbClr val="1E1E1E"/>
                </a:solidFill>
                <a:latin typeface="Inter Bold"/>
                <a:ea typeface="Inter Bold"/>
                <a:cs typeface="Inter Bold"/>
                <a:sym typeface="Inter Bold"/>
              </a:rPr>
              <a:t>Specialization:</a:t>
            </a:r>
            <a:r>
              <a:rPr lang="en-US" sz="1100">
                <a:solidFill>
                  <a:srgbClr val="1E1E1E"/>
                </a:solidFill>
                <a:latin typeface="Inter"/>
                <a:ea typeface="Inter"/>
                <a:cs typeface="Inter"/>
                <a:sym typeface="Inter"/>
              </a:rPr>
              <a:t> Power Mechanics, Renewable Energy &amp; Hydraulic Systems</a:t>
            </a:r>
          </a:p>
          <a:p>
            <a:pPr algn="l">
              <a:lnSpc>
                <a:spcPts val="1540"/>
              </a:lnSpc>
              <a:spcBef>
                <a:spcPct val="0"/>
              </a:spcBef>
            </a:pPr>
            <a:r>
              <a:rPr lang="en-US" b="true" sz="1100">
                <a:solidFill>
                  <a:srgbClr val="1E1E1E"/>
                </a:solidFill>
                <a:latin typeface="Inter Bold"/>
                <a:ea typeface="Inter Bold"/>
                <a:cs typeface="Inter Bold"/>
                <a:sym typeface="Inter Bold"/>
              </a:rPr>
              <a:t>Graduation Project:</a:t>
            </a:r>
            <a:r>
              <a:rPr lang="en-US" sz="1100">
                <a:solidFill>
                  <a:srgbClr val="1E1E1E"/>
                </a:solidFill>
                <a:latin typeface="Inter"/>
                <a:ea typeface="Inter"/>
                <a:cs typeface="Inter"/>
                <a:sym typeface="Inter"/>
              </a:rPr>
              <a:t> Sections Design for Quad Stroke Engine.</a:t>
            </a:r>
          </a:p>
        </p:txBody>
      </p:sp>
      <p:sp>
        <p:nvSpPr>
          <p:cNvPr name="TextBox 15" id="15"/>
          <p:cNvSpPr txBox="true"/>
          <p:nvPr/>
        </p:nvSpPr>
        <p:spPr>
          <a:xfrm rot="0">
            <a:off x="443900" y="6331433"/>
            <a:ext cx="6660000" cy="207645"/>
          </a:xfrm>
          <a:prstGeom prst="rect">
            <a:avLst/>
          </a:prstGeom>
        </p:spPr>
        <p:txBody>
          <a:bodyPr anchor="t" rtlCol="false" tIns="0" lIns="0" bIns="0" rIns="0">
            <a:spAutoFit/>
          </a:bodyPr>
          <a:lstStyle/>
          <a:p>
            <a:pPr algn="l">
              <a:lnSpc>
                <a:spcPts val="1679"/>
              </a:lnSpc>
              <a:spcBef>
                <a:spcPct val="0"/>
              </a:spcBef>
            </a:pPr>
            <a:r>
              <a:rPr lang="en-US" b="true" sz="1200">
                <a:solidFill>
                  <a:srgbClr val="1E1E1E"/>
                </a:solidFill>
                <a:latin typeface="Inter Bold"/>
                <a:ea typeface="Inter Bold"/>
                <a:cs typeface="Inter Bold"/>
                <a:sym typeface="Inter Bold"/>
              </a:rPr>
              <a:t>EDUCATION</a:t>
            </a:r>
          </a:p>
        </p:txBody>
      </p:sp>
      <p:grpSp>
        <p:nvGrpSpPr>
          <p:cNvPr name="Group 16" id="16"/>
          <p:cNvGrpSpPr/>
          <p:nvPr/>
        </p:nvGrpSpPr>
        <p:grpSpPr>
          <a:xfrm rot="0">
            <a:off x="432080" y="7616038"/>
            <a:ext cx="6671820" cy="2894965"/>
            <a:chOff x="0" y="0"/>
            <a:chExt cx="8895761" cy="3859953"/>
          </a:xfrm>
        </p:grpSpPr>
        <p:sp>
          <p:nvSpPr>
            <p:cNvPr name="AutoShape 17" id="17"/>
            <p:cNvSpPr/>
            <p:nvPr/>
          </p:nvSpPr>
          <p:spPr>
            <a:xfrm>
              <a:off x="15761" y="321310"/>
              <a:ext cx="8880000" cy="0"/>
            </a:xfrm>
            <a:prstGeom prst="line">
              <a:avLst/>
            </a:prstGeom>
            <a:ln cap="rnd" w="12700">
              <a:solidFill>
                <a:srgbClr val="1E1E1E"/>
              </a:solidFill>
              <a:prstDash val="solid"/>
              <a:headEnd type="none" len="sm" w="sm"/>
              <a:tailEnd type="none" len="sm" w="sm"/>
            </a:ln>
          </p:spPr>
        </p:sp>
        <p:sp>
          <p:nvSpPr>
            <p:cNvPr name="TextBox 18" id="18"/>
            <p:cNvSpPr txBox="true"/>
            <p:nvPr/>
          </p:nvSpPr>
          <p:spPr>
            <a:xfrm rot="0">
              <a:off x="0" y="-28575"/>
              <a:ext cx="8880000" cy="267335"/>
            </a:xfrm>
            <a:prstGeom prst="rect">
              <a:avLst/>
            </a:prstGeom>
          </p:spPr>
          <p:txBody>
            <a:bodyPr anchor="t" rtlCol="false" tIns="0" lIns="0" bIns="0" rIns="0">
              <a:spAutoFit/>
            </a:bodyPr>
            <a:lstStyle/>
            <a:p>
              <a:pPr algn="l">
                <a:lnSpc>
                  <a:spcPts val="1679"/>
                </a:lnSpc>
                <a:spcBef>
                  <a:spcPct val="0"/>
                </a:spcBef>
              </a:pPr>
              <a:r>
                <a:rPr lang="en-US" b="true" sz="1200">
                  <a:solidFill>
                    <a:srgbClr val="1E1E1E"/>
                  </a:solidFill>
                  <a:latin typeface="Inter Bold"/>
                  <a:ea typeface="Inter Bold"/>
                  <a:cs typeface="Inter Bold"/>
                  <a:sym typeface="Inter Bold"/>
                </a:rPr>
                <a:t>CERTIFICATIONS</a:t>
              </a:r>
            </a:p>
          </p:txBody>
        </p:sp>
        <p:sp>
          <p:nvSpPr>
            <p:cNvPr name="TextBox 19" id="19"/>
            <p:cNvSpPr txBox="true"/>
            <p:nvPr/>
          </p:nvSpPr>
          <p:spPr>
            <a:xfrm rot="0">
              <a:off x="6294946" y="426085"/>
              <a:ext cx="2553027" cy="245322"/>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7 – 12 Jul 2024</a:t>
              </a:r>
            </a:p>
          </p:txBody>
        </p:sp>
        <p:sp>
          <p:nvSpPr>
            <p:cNvPr name="TextBox 20" id="20"/>
            <p:cNvSpPr txBox="true"/>
            <p:nvPr/>
          </p:nvSpPr>
          <p:spPr>
            <a:xfrm rot="0">
              <a:off x="0" y="387985"/>
              <a:ext cx="8496000" cy="2785322"/>
            </a:xfrm>
            <a:prstGeom prst="rect">
              <a:avLst/>
            </a:prstGeom>
          </p:spPr>
          <p:txBody>
            <a:bodyPr anchor="t" rtlCol="false" tIns="0" lIns="0" bIns="0" rIns="0">
              <a:spAutoFit/>
            </a:bodyPr>
            <a:lstStyle/>
            <a:p>
              <a:pPr algn="l">
                <a:lnSpc>
                  <a:spcPts val="1540"/>
                </a:lnSpc>
              </a:pPr>
              <a:r>
                <a:rPr lang="en-US" sz="1100" b="true">
                  <a:solidFill>
                    <a:srgbClr val="1E1E1E"/>
                  </a:solidFill>
                  <a:latin typeface="Inter Bold"/>
                  <a:ea typeface="Inter Bold"/>
                  <a:cs typeface="Inter Bold"/>
                  <a:sym typeface="Inter Bold"/>
                </a:rPr>
                <a:t>Project Management Professional (PMP)</a:t>
              </a:r>
            </a:p>
            <a:p>
              <a:pPr algn="l">
                <a:lnSpc>
                  <a:spcPts val="1540"/>
                </a:lnSpc>
              </a:pPr>
              <a:r>
                <a:rPr lang="en-US" sz="1100">
                  <a:solidFill>
                    <a:srgbClr val="1E1E1E"/>
                  </a:solidFill>
                  <a:latin typeface="Inter"/>
                  <a:ea typeface="Inter"/>
                  <a:cs typeface="Inter"/>
                  <a:sym typeface="Inter"/>
                </a:rPr>
                <a:t>Saudi Kawader Training Institute</a:t>
              </a:r>
            </a:p>
            <a:p>
              <a:pPr algn="l">
                <a:lnSpc>
                  <a:spcPts val="1540"/>
                </a:lnSpc>
              </a:pPr>
            </a:p>
            <a:p>
              <a:pPr algn="l">
                <a:lnSpc>
                  <a:spcPts val="1540"/>
                </a:lnSpc>
              </a:pPr>
              <a:r>
                <a:rPr lang="en-US" sz="1100" b="true">
                  <a:solidFill>
                    <a:srgbClr val="1E1E1E"/>
                  </a:solidFill>
                  <a:latin typeface="Inter Bold"/>
                  <a:ea typeface="Inter Bold"/>
                  <a:cs typeface="Inter Bold"/>
                  <a:sym typeface="Inter Bold"/>
                </a:rPr>
                <a:t>PMP with Artificial Intelligence (PMP + AI)</a:t>
              </a:r>
            </a:p>
            <a:p>
              <a:pPr algn="l">
                <a:lnSpc>
                  <a:spcPts val="1540"/>
                </a:lnSpc>
              </a:pPr>
              <a:r>
                <a:rPr lang="en-US" sz="1100">
                  <a:solidFill>
                    <a:srgbClr val="1E1E1E"/>
                  </a:solidFill>
                  <a:latin typeface="Inter"/>
                  <a:ea typeface="Inter"/>
                  <a:cs typeface="Inter"/>
                  <a:sym typeface="Inter"/>
                </a:rPr>
                <a:t>Saudi Kawader Training Institute</a:t>
              </a:r>
            </a:p>
            <a:p>
              <a:pPr algn="l">
                <a:lnSpc>
                  <a:spcPts val="1540"/>
                </a:lnSpc>
              </a:pPr>
            </a:p>
            <a:p>
              <a:pPr algn="l">
                <a:lnSpc>
                  <a:spcPts val="1540"/>
                </a:lnSpc>
              </a:pPr>
              <a:r>
                <a:rPr lang="en-US" sz="1100" b="true">
                  <a:solidFill>
                    <a:srgbClr val="1E1E1E"/>
                  </a:solidFill>
                  <a:latin typeface="Inter Bold"/>
                  <a:ea typeface="Inter Bold"/>
                  <a:cs typeface="Inter Bold"/>
                  <a:sym typeface="Inter Bold"/>
                </a:rPr>
                <a:t>Risk Management Professional (RMP)</a:t>
              </a:r>
            </a:p>
            <a:p>
              <a:pPr algn="l">
                <a:lnSpc>
                  <a:spcPts val="1540"/>
                </a:lnSpc>
              </a:pPr>
              <a:r>
                <a:rPr lang="en-US" sz="1100">
                  <a:solidFill>
                    <a:srgbClr val="1E1E1E"/>
                  </a:solidFill>
                  <a:latin typeface="Inter"/>
                  <a:ea typeface="Inter"/>
                  <a:cs typeface="Inter"/>
                  <a:sym typeface="Inter"/>
                </a:rPr>
                <a:t>Saudi Kawader Training Institute</a:t>
              </a:r>
            </a:p>
            <a:p>
              <a:pPr algn="l">
                <a:lnSpc>
                  <a:spcPts val="1540"/>
                </a:lnSpc>
              </a:pPr>
            </a:p>
            <a:p>
              <a:pPr algn="l">
                <a:lnSpc>
                  <a:spcPts val="1540"/>
                </a:lnSpc>
              </a:pPr>
              <a:r>
                <a:rPr lang="en-US" sz="1100" b="true">
                  <a:solidFill>
                    <a:srgbClr val="1E1E1E"/>
                  </a:solidFill>
                  <a:latin typeface="Inter Bold"/>
                  <a:ea typeface="Inter Bold"/>
                  <a:cs typeface="Inter Bold"/>
                  <a:sym typeface="Inter Bold"/>
                </a:rPr>
                <a:t>Certified Maintenance &amp; Reliability Professional (CMRP)</a:t>
              </a:r>
            </a:p>
            <a:p>
              <a:pPr algn="l">
                <a:lnSpc>
                  <a:spcPts val="1540"/>
                </a:lnSpc>
              </a:pPr>
              <a:r>
                <a:rPr lang="en-US" sz="1100">
                  <a:solidFill>
                    <a:srgbClr val="1E1E1E"/>
                  </a:solidFill>
                  <a:latin typeface="Inter"/>
                  <a:ea typeface="Inter"/>
                  <a:cs typeface="Inter"/>
                  <a:sym typeface="Inter"/>
                </a:rPr>
                <a:t>Saudi Kawader Training Institute</a:t>
              </a:r>
            </a:p>
          </p:txBody>
        </p:sp>
        <p:sp>
          <p:nvSpPr>
            <p:cNvPr name="TextBox 21" id="21"/>
            <p:cNvSpPr txBox="true"/>
            <p:nvPr/>
          </p:nvSpPr>
          <p:spPr>
            <a:xfrm rot="0">
              <a:off x="6294946" y="1163532"/>
              <a:ext cx="2553027" cy="245322"/>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9 Aug 2024</a:t>
              </a:r>
            </a:p>
          </p:txBody>
        </p:sp>
        <p:sp>
          <p:nvSpPr>
            <p:cNvPr name="TextBox 22" id="22"/>
            <p:cNvSpPr txBox="true"/>
            <p:nvPr/>
          </p:nvSpPr>
          <p:spPr>
            <a:xfrm rot="0">
              <a:off x="6294946" y="1900978"/>
              <a:ext cx="2553027" cy="245322"/>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21 – 26 Jul 2024</a:t>
              </a:r>
            </a:p>
          </p:txBody>
        </p:sp>
        <p:sp>
          <p:nvSpPr>
            <p:cNvPr name="TextBox 23" id="23"/>
            <p:cNvSpPr txBox="true"/>
            <p:nvPr/>
          </p:nvSpPr>
          <p:spPr>
            <a:xfrm rot="0">
              <a:off x="6294946" y="2624878"/>
              <a:ext cx="2553027" cy="245322"/>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7 – 12 Jul 2024</a:t>
              </a:r>
            </a:p>
          </p:txBody>
        </p:sp>
        <p:sp>
          <p:nvSpPr>
            <p:cNvPr name="TextBox 24" id="24"/>
            <p:cNvSpPr txBox="true"/>
            <p:nvPr/>
          </p:nvSpPr>
          <p:spPr>
            <a:xfrm rot="0">
              <a:off x="6310960" y="3398732"/>
              <a:ext cx="2553027" cy="245322"/>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15 – 19 Jul 2024</a:t>
              </a:r>
            </a:p>
          </p:txBody>
        </p:sp>
        <p:sp>
          <p:nvSpPr>
            <p:cNvPr name="TextBox 25" id="25"/>
            <p:cNvSpPr txBox="true"/>
            <p:nvPr/>
          </p:nvSpPr>
          <p:spPr>
            <a:xfrm rot="0">
              <a:off x="16013" y="3360632"/>
              <a:ext cx="8496000" cy="499322"/>
            </a:xfrm>
            <a:prstGeom prst="rect">
              <a:avLst/>
            </a:prstGeom>
          </p:spPr>
          <p:txBody>
            <a:bodyPr anchor="t" rtlCol="false" tIns="0" lIns="0" bIns="0" rIns="0">
              <a:spAutoFit/>
            </a:bodyPr>
            <a:lstStyle/>
            <a:p>
              <a:pPr algn="l">
                <a:lnSpc>
                  <a:spcPts val="1540"/>
                </a:lnSpc>
              </a:pPr>
              <a:r>
                <a:rPr lang="en-US" sz="1100" b="true">
                  <a:solidFill>
                    <a:srgbClr val="1E1E1E"/>
                  </a:solidFill>
                  <a:latin typeface="Inter Bold"/>
                  <a:ea typeface="Inter Bold"/>
                  <a:cs typeface="Inter Bold"/>
                  <a:sym typeface="Inter Bold"/>
                </a:rPr>
                <a:t>Key Performance Indicators (KPIs) in Project Management</a:t>
              </a:r>
            </a:p>
            <a:p>
              <a:pPr algn="l">
                <a:lnSpc>
                  <a:spcPts val="1540"/>
                </a:lnSpc>
              </a:pPr>
              <a:r>
                <a:rPr lang="en-US" sz="1100">
                  <a:solidFill>
                    <a:srgbClr val="1E1E1E"/>
                  </a:solidFill>
                  <a:latin typeface="Inter"/>
                  <a:ea typeface="Inter"/>
                  <a:cs typeface="Inter"/>
                  <a:sym typeface="Inter"/>
                </a:rPr>
                <a:t>Saudi Kawader Training Institute</a:t>
              </a:r>
            </a:p>
          </p:txBody>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50342" y="-28575"/>
            <a:ext cx="4500000" cy="207645"/>
          </a:xfrm>
          <a:prstGeom prst="rect">
            <a:avLst/>
          </a:prstGeom>
        </p:spPr>
        <p:txBody>
          <a:bodyPr anchor="t" rtlCol="false" tIns="0" lIns="0" bIns="0" rIns="0">
            <a:spAutoFit/>
          </a:bodyPr>
          <a:lstStyle/>
          <a:p>
            <a:pPr algn="l">
              <a:lnSpc>
                <a:spcPts val="1679"/>
              </a:lnSpc>
              <a:spcBef>
                <a:spcPct val="0"/>
              </a:spcBef>
            </a:pPr>
          </a:p>
        </p:txBody>
      </p:sp>
      <p:grpSp>
        <p:nvGrpSpPr>
          <p:cNvPr name="Group 3" id="3"/>
          <p:cNvGrpSpPr/>
          <p:nvPr/>
        </p:nvGrpSpPr>
        <p:grpSpPr>
          <a:xfrm rot="0">
            <a:off x="444090" y="516962"/>
            <a:ext cx="6635980" cy="353060"/>
            <a:chOff x="0" y="0"/>
            <a:chExt cx="8847973" cy="470747"/>
          </a:xfrm>
        </p:grpSpPr>
        <p:sp>
          <p:nvSpPr>
            <p:cNvPr name="TextBox 4" id="4"/>
            <p:cNvSpPr txBox="true"/>
            <p:nvPr/>
          </p:nvSpPr>
          <p:spPr>
            <a:xfrm rot="0">
              <a:off x="6294946" y="9525"/>
              <a:ext cx="2553027" cy="245322"/>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17 – 31 Oct 2017</a:t>
              </a:r>
            </a:p>
          </p:txBody>
        </p:sp>
        <p:sp>
          <p:nvSpPr>
            <p:cNvPr name="TextBox 5" id="5"/>
            <p:cNvSpPr txBox="true"/>
            <p:nvPr/>
          </p:nvSpPr>
          <p:spPr>
            <a:xfrm rot="0">
              <a:off x="0" y="-28575"/>
              <a:ext cx="8496000" cy="499322"/>
            </a:xfrm>
            <a:prstGeom prst="rect">
              <a:avLst/>
            </a:prstGeom>
          </p:spPr>
          <p:txBody>
            <a:bodyPr anchor="t" rtlCol="false" tIns="0" lIns="0" bIns="0" rIns="0">
              <a:spAutoFit/>
            </a:bodyPr>
            <a:lstStyle/>
            <a:p>
              <a:pPr algn="l">
                <a:lnSpc>
                  <a:spcPts val="1540"/>
                </a:lnSpc>
              </a:pPr>
              <a:r>
                <a:rPr lang="en-US" sz="1100" b="true">
                  <a:solidFill>
                    <a:srgbClr val="1E1E1E"/>
                  </a:solidFill>
                  <a:latin typeface="Inter Bold"/>
                  <a:ea typeface="Inter Bold"/>
                  <a:cs typeface="Inter Bold"/>
                  <a:sym typeface="Inter Bold"/>
                </a:rPr>
                <a:t>Fire Protection System</a:t>
              </a:r>
            </a:p>
            <a:p>
              <a:pPr algn="l">
                <a:lnSpc>
                  <a:spcPts val="1540"/>
                </a:lnSpc>
              </a:pPr>
              <a:r>
                <a:rPr lang="en-US" sz="1100">
                  <a:solidFill>
                    <a:srgbClr val="1E1E1E"/>
                  </a:solidFill>
                  <a:latin typeface="Inter"/>
                  <a:ea typeface="Inter"/>
                  <a:cs typeface="Inter"/>
                  <a:sym typeface="Inter"/>
                </a:rPr>
                <a:t>Engineer Club</a:t>
              </a:r>
            </a:p>
          </p:txBody>
        </p:sp>
      </p:grpSp>
      <p:grpSp>
        <p:nvGrpSpPr>
          <p:cNvPr name="Group 6" id="6"/>
          <p:cNvGrpSpPr/>
          <p:nvPr/>
        </p:nvGrpSpPr>
        <p:grpSpPr>
          <a:xfrm rot="0">
            <a:off x="444090" y="6275611"/>
            <a:ext cx="6727901" cy="3990975"/>
            <a:chOff x="0" y="0"/>
            <a:chExt cx="8970535" cy="5321300"/>
          </a:xfrm>
        </p:grpSpPr>
        <p:sp>
          <p:nvSpPr>
            <p:cNvPr name="TextBox 7" id="7"/>
            <p:cNvSpPr txBox="true"/>
            <p:nvPr/>
          </p:nvSpPr>
          <p:spPr>
            <a:xfrm rot="0">
              <a:off x="0" y="-28575"/>
              <a:ext cx="6000000" cy="245322"/>
            </a:xfrm>
            <a:prstGeom prst="rect">
              <a:avLst/>
            </a:prstGeom>
          </p:spPr>
          <p:txBody>
            <a:bodyPr anchor="t" rtlCol="false" tIns="0" lIns="0" bIns="0" rIns="0">
              <a:spAutoFit/>
            </a:bodyPr>
            <a:lstStyle/>
            <a:p>
              <a:pPr algn="l">
                <a:lnSpc>
                  <a:spcPts val="1540"/>
                </a:lnSpc>
                <a:spcBef>
                  <a:spcPct val="0"/>
                </a:spcBef>
              </a:pPr>
              <a:r>
                <a:rPr lang="en-US" sz="1100" b="true">
                  <a:solidFill>
                    <a:srgbClr val="1E1E1E"/>
                  </a:solidFill>
                  <a:latin typeface="Inter Semi-Bold"/>
                  <a:ea typeface="Inter Semi-Bold"/>
                  <a:cs typeface="Inter Semi-Bold"/>
                  <a:sym typeface="Inter Semi-Bold"/>
                </a:rPr>
                <a:t>Key Achievements:</a:t>
              </a:r>
            </a:p>
          </p:txBody>
        </p:sp>
        <p:sp>
          <p:nvSpPr>
            <p:cNvPr name="TextBox 8" id="8"/>
            <p:cNvSpPr txBox="true"/>
            <p:nvPr/>
          </p:nvSpPr>
          <p:spPr>
            <a:xfrm rot="0">
              <a:off x="141669" y="467572"/>
              <a:ext cx="8496000" cy="3547322"/>
            </a:xfrm>
            <a:prstGeom prst="rect">
              <a:avLst/>
            </a:prstGeom>
          </p:spPr>
          <p:txBody>
            <a:bodyPr anchor="t" rtlCol="false" tIns="0" lIns="0" bIns="0" rIns="0">
              <a:spAutoFit/>
            </a:bodyPr>
            <a:lstStyle/>
            <a:p>
              <a:pPr algn="l" marL="237491" indent="-118745" lvl="1">
                <a:lnSpc>
                  <a:spcPts val="1540"/>
                </a:lnSpc>
                <a:buFont typeface="Arial"/>
                <a:buChar char="•"/>
              </a:pPr>
              <a:r>
                <a:rPr lang="en-US" sz="1100">
                  <a:solidFill>
                    <a:srgbClr val="1E1E1E"/>
                  </a:solidFill>
                  <a:latin typeface="Inter"/>
                  <a:ea typeface="Inter"/>
                  <a:cs typeface="Inter"/>
                  <a:sym typeface="Inter"/>
                </a:rPr>
                <a:t>Successfully led and trained over 200 professionals and technicians in HVAC, hydraulics, and renewable energy systems.</a:t>
              </a:r>
            </a:p>
            <a:p>
              <a:pPr algn="l" marL="237491" indent="-118745" lvl="1">
                <a:lnSpc>
                  <a:spcPts val="1540"/>
                </a:lnSpc>
                <a:buFont typeface="Arial"/>
                <a:buChar char="•"/>
              </a:pPr>
              <a:r>
                <a:rPr lang="en-US" sz="1100">
                  <a:solidFill>
                    <a:srgbClr val="1E1E1E"/>
                  </a:solidFill>
                  <a:latin typeface="Inter"/>
                  <a:ea typeface="Inter"/>
                  <a:cs typeface="Inter"/>
                  <a:sym typeface="Inter"/>
                </a:rPr>
                <a:t>Improved maintenance efficiency and equipment reliability through strategic preventive maintenance plans.</a:t>
              </a:r>
            </a:p>
            <a:p>
              <a:pPr algn="l" marL="237491" indent="-118745" lvl="1">
                <a:lnSpc>
                  <a:spcPts val="1540"/>
                </a:lnSpc>
                <a:buFont typeface="Arial"/>
                <a:buChar char="•"/>
              </a:pPr>
              <a:r>
                <a:rPr lang="en-US" sz="1100">
                  <a:solidFill>
                    <a:srgbClr val="1E1E1E"/>
                  </a:solidFill>
                  <a:latin typeface="Inter"/>
                  <a:ea typeface="Inter"/>
                  <a:cs typeface="Inter"/>
                  <a:sym typeface="Inter"/>
                </a:rPr>
                <a:t>Designed and optimized energy-saving mechanical systems, enhancing overall plant performance.</a:t>
              </a:r>
            </a:p>
            <a:p>
              <a:pPr algn="l" marL="237491" indent="-118745" lvl="1">
                <a:lnSpc>
                  <a:spcPts val="1540"/>
                </a:lnSpc>
                <a:buFont typeface="Arial"/>
                <a:buChar char="•"/>
              </a:pPr>
              <a:r>
                <a:rPr lang="en-US" sz="1100">
                  <a:solidFill>
                    <a:srgbClr val="1E1E1E"/>
                  </a:solidFill>
                  <a:latin typeface="Inter"/>
                  <a:ea typeface="Inter"/>
                  <a:cs typeface="Inter"/>
                  <a:sym typeface="Inter"/>
                </a:rPr>
                <a:t>Contributed to reducing downtime and operational costs by implementing structured maintenance programs.</a:t>
              </a:r>
            </a:p>
            <a:p>
              <a:pPr algn="l" marL="237491" indent="-118745" lvl="1">
                <a:lnSpc>
                  <a:spcPts val="1540"/>
                </a:lnSpc>
                <a:buFont typeface="Arial"/>
                <a:buChar char="•"/>
              </a:pPr>
              <a:r>
                <a:rPr lang="en-US" sz="1100">
                  <a:solidFill>
                    <a:srgbClr val="1E1E1E"/>
                  </a:solidFill>
                  <a:latin typeface="Inter"/>
                  <a:ea typeface="Inter"/>
                  <a:cs typeface="Inter"/>
                  <a:sym typeface="Inter"/>
                </a:rPr>
                <a:t>Recognized by management for leadership, innovation, and technical problem-solving in mechanical operations.</a:t>
              </a:r>
            </a:p>
            <a:p>
              <a:pPr algn="l" marL="237491" indent="-118745" lvl="1">
                <a:lnSpc>
                  <a:spcPts val="1540"/>
                </a:lnSpc>
                <a:buFont typeface="Arial"/>
                <a:buChar char="•"/>
              </a:pPr>
              <a:r>
                <a:rPr lang="en-US" sz="1100">
                  <a:solidFill>
                    <a:srgbClr val="1E1E1E"/>
                  </a:solidFill>
                  <a:latin typeface="Inter"/>
                  <a:ea typeface="Inter"/>
                  <a:cs typeface="Inter"/>
                  <a:sym typeface="Inter"/>
                </a:rPr>
                <a:t>Conducted multiple technical workshops on computer maintenance, cybersecurity, and mechanical systems.</a:t>
              </a:r>
            </a:p>
            <a:p>
              <a:pPr algn="l" marL="237491" indent="-118745" lvl="1">
                <a:lnSpc>
                  <a:spcPts val="1540"/>
                </a:lnSpc>
                <a:spcBef>
                  <a:spcPct val="0"/>
                </a:spcBef>
                <a:buFont typeface="Arial"/>
                <a:buChar char="•"/>
              </a:pPr>
              <a:r>
                <a:rPr lang="en-US" sz="1100">
                  <a:solidFill>
                    <a:srgbClr val="1E1E1E"/>
                  </a:solidFill>
                  <a:latin typeface="Inter"/>
                  <a:ea typeface="Inter"/>
                  <a:cs typeface="Inter"/>
                  <a:sym typeface="Inter"/>
                </a:rPr>
                <a:t>Developed and delivered training materials that enhanced staff performance and safety awareness.</a:t>
              </a:r>
            </a:p>
          </p:txBody>
        </p:sp>
        <p:sp>
          <p:nvSpPr>
            <p:cNvPr name="TextBox 9" id="9"/>
            <p:cNvSpPr txBox="true"/>
            <p:nvPr/>
          </p:nvSpPr>
          <p:spPr>
            <a:xfrm rot="0">
              <a:off x="90535" y="4265718"/>
              <a:ext cx="8880000" cy="267335"/>
            </a:xfrm>
            <a:prstGeom prst="rect">
              <a:avLst/>
            </a:prstGeom>
          </p:spPr>
          <p:txBody>
            <a:bodyPr anchor="t" rtlCol="false" tIns="0" lIns="0" bIns="0" rIns="0">
              <a:spAutoFit/>
            </a:bodyPr>
            <a:lstStyle/>
            <a:p>
              <a:pPr algn="l">
                <a:lnSpc>
                  <a:spcPts val="1679"/>
                </a:lnSpc>
                <a:spcBef>
                  <a:spcPct val="0"/>
                </a:spcBef>
              </a:pPr>
              <a:r>
                <a:rPr lang="en-US" b="true" sz="1200">
                  <a:solidFill>
                    <a:srgbClr val="1E1E1E"/>
                  </a:solidFill>
                  <a:latin typeface="Inter Bold"/>
                  <a:ea typeface="Inter Bold"/>
                  <a:cs typeface="Inter Bold"/>
                  <a:sym typeface="Inter Bold"/>
                </a:rPr>
                <a:t>LANGUAGES</a:t>
              </a:r>
            </a:p>
          </p:txBody>
        </p:sp>
        <p:sp>
          <p:nvSpPr>
            <p:cNvPr name="AutoShape 10" id="10"/>
            <p:cNvSpPr/>
            <p:nvPr/>
          </p:nvSpPr>
          <p:spPr>
            <a:xfrm>
              <a:off x="90535" y="4691803"/>
              <a:ext cx="8880000" cy="0"/>
            </a:xfrm>
            <a:prstGeom prst="line">
              <a:avLst/>
            </a:prstGeom>
            <a:ln cap="rnd" w="12700">
              <a:solidFill>
                <a:srgbClr val="1E1E1E"/>
              </a:solidFill>
              <a:prstDash val="solid"/>
              <a:headEnd type="none" len="sm" w="sm"/>
              <a:tailEnd type="none" len="sm" w="sm"/>
            </a:ln>
          </p:spPr>
        </p:sp>
        <p:sp>
          <p:nvSpPr>
            <p:cNvPr name="TextBox 11" id="11"/>
            <p:cNvSpPr txBox="true"/>
            <p:nvPr/>
          </p:nvSpPr>
          <p:spPr>
            <a:xfrm rot="0">
              <a:off x="141669" y="4821978"/>
              <a:ext cx="8496000" cy="499322"/>
            </a:xfrm>
            <a:prstGeom prst="rect">
              <a:avLst/>
            </a:prstGeom>
          </p:spPr>
          <p:txBody>
            <a:bodyPr anchor="t" rtlCol="false" tIns="0" lIns="0" bIns="0" rIns="0">
              <a:spAutoFit/>
            </a:bodyPr>
            <a:lstStyle/>
            <a:p>
              <a:pPr algn="l" marL="237491" indent="-118745" lvl="1">
                <a:lnSpc>
                  <a:spcPts val="1540"/>
                </a:lnSpc>
                <a:buFont typeface="Arial"/>
                <a:buChar char="•"/>
              </a:pPr>
              <a:r>
                <a:rPr lang="en-US" b="true" sz="1100">
                  <a:solidFill>
                    <a:srgbClr val="1E1E1E"/>
                  </a:solidFill>
                  <a:latin typeface="Inter Bold"/>
                  <a:ea typeface="Inter Bold"/>
                  <a:cs typeface="Inter Bold"/>
                  <a:sym typeface="Inter Bold"/>
                </a:rPr>
                <a:t>Arabic:</a:t>
              </a:r>
              <a:r>
                <a:rPr lang="en-US" sz="1100">
                  <a:solidFill>
                    <a:srgbClr val="1E1E1E"/>
                  </a:solidFill>
                  <a:latin typeface="Inter"/>
                  <a:ea typeface="Inter"/>
                  <a:cs typeface="Inter"/>
                  <a:sym typeface="Inter"/>
                </a:rPr>
                <a:t> Native</a:t>
              </a:r>
            </a:p>
            <a:p>
              <a:pPr algn="l" marL="237491" indent="-118745" lvl="1">
                <a:lnSpc>
                  <a:spcPts val="1540"/>
                </a:lnSpc>
                <a:buFont typeface="Arial"/>
                <a:buChar char="•"/>
              </a:pPr>
              <a:r>
                <a:rPr lang="en-US" b="true" sz="1100">
                  <a:solidFill>
                    <a:srgbClr val="1E1E1E"/>
                  </a:solidFill>
                  <a:latin typeface="Inter Bold"/>
                  <a:ea typeface="Inter Bold"/>
                  <a:cs typeface="Inter Bold"/>
                  <a:sym typeface="Inter Bold"/>
                </a:rPr>
                <a:t>English:</a:t>
              </a:r>
              <a:r>
                <a:rPr lang="en-US" sz="1100">
                  <a:solidFill>
                    <a:srgbClr val="1E1E1E"/>
                  </a:solidFill>
                  <a:latin typeface="Inter"/>
                  <a:ea typeface="Inter"/>
                  <a:cs typeface="Inter"/>
                  <a:sym typeface="Inter"/>
                </a:rPr>
                <a:t> Excellent (Professional communication, writing, and presentation skills)</a:t>
              </a:r>
            </a:p>
          </p:txBody>
        </p:sp>
      </p:grpSp>
      <p:sp>
        <p:nvSpPr>
          <p:cNvPr name="TextBox 12" id="12"/>
          <p:cNvSpPr txBox="true"/>
          <p:nvPr/>
        </p:nvSpPr>
        <p:spPr>
          <a:xfrm rot="0">
            <a:off x="5201140" y="2687327"/>
            <a:ext cx="1914770" cy="191135"/>
          </a:xfrm>
          <a:prstGeom prst="rect">
            <a:avLst/>
          </a:prstGeom>
        </p:spPr>
        <p:txBody>
          <a:bodyPr anchor="t" rtlCol="false" tIns="0" lIns="0" bIns="0" rIns="0">
            <a:spAutoFit/>
          </a:bodyPr>
          <a:lstStyle/>
          <a:p>
            <a:pPr algn="r">
              <a:lnSpc>
                <a:spcPts val="1540"/>
              </a:lnSpc>
              <a:spcBef>
                <a:spcPct val="0"/>
              </a:spcBef>
            </a:pPr>
          </a:p>
        </p:txBody>
      </p:sp>
      <p:grpSp>
        <p:nvGrpSpPr>
          <p:cNvPr name="Group 13" id="13"/>
          <p:cNvGrpSpPr/>
          <p:nvPr/>
        </p:nvGrpSpPr>
        <p:grpSpPr>
          <a:xfrm rot="0">
            <a:off x="444090" y="972206"/>
            <a:ext cx="6635980" cy="353060"/>
            <a:chOff x="0" y="0"/>
            <a:chExt cx="8847973" cy="470747"/>
          </a:xfrm>
        </p:grpSpPr>
        <p:sp>
          <p:nvSpPr>
            <p:cNvPr name="TextBox 14" id="14"/>
            <p:cNvSpPr txBox="true"/>
            <p:nvPr/>
          </p:nvSpPr>
          <p:spPr>
            <a:xfrm rot="0">
              <a:off x="6294946" y="9525"/>
              <a:ext cx="2553027" cy="245322"/>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Sep 9–14, 2017</a:t>
              </a:r>
            </a:p>
          </p:txBody>
        </p:sp>
        <p:sp>
          <p:nvSpPr>
            <p:cNvPr name="TextBox 15" id="15"/>
            <p:cNvSpPr txBox="true"/>
            <p:nvPr/>
          </p:nvSpPr>
          <p:spPr>
            <a:xfrm rot="0">
              <a:off x="0" y="-28575"/>
              <a:ext cx="8496000" cy="499322"/>
            </a:xfrm>
            <a:prstGeom prst="rect">
              <a:avLst/>
            </a:prstGeom>
          </p:spPr>
          <p:txBody>
            <a:bodyPr anchor="t" rtlCol="false" tIns="0" lIns="0" bIns="0" rIns="0">
              <a:spAutoFit/>
            </a:bodyPr>
            <a:lstStyle/>
            <a:p>
              <a:pPr algn="l">
                <a:lnSpc>
                  <a:spcPts val="1540"/>
                </a:lnSpc>
              </a:pPr>
              <a:r>
                <a:rPr lang="en-US" sz="1100" b="true">
                  <a:solidFill>
                    <a:srgbClr val="1E1E1E"/>
                  </a:solidFill>
                  <a:latin typeface="Inter Bold"/>
                  <a:ea typeface="Inter Bold"/>
                  <a:cs typeface="Inter Bold"/>
                  <a:sym typeface="Inter Bold"/>
                </a:rPr>
                <a:t>NEBOSH + OSHA Safety Program</a:t>
              </a:r>
            </a:p>
            <a:p>
              <a:pPr algn="l">
                <a:lnSpc>
                  <a:spcPts val="1540"/>
                </a:lnSpc>
              </a:pPr>
              <a:r>
                <a:rPr lang="en-US" sz="1100">
                  <a:solidFill>
                    <a:srgbClr val="1E1E1E"/>
                  </a:solidFill>
                  <a:latin typeface="Inter"/>
                  <a:ea typeface="Inter"/>
                  <a:cs typeface="Inter"/>
                  <a:sym typeface="Inter"/>
                </a:rPr>
                <a:t>7Vision for Training and Development</a:t>
              </a:r>
            </a:p>
          </p:txBody>
        </p:sp>
      </p:grpSp>
      <p:grpSp>
        <p:nvGrpSpPr>
          <p:cNvPr name="Group 16" id="16"/>
          <p:cNvGrpSpPr/>
          <p:nvPr/>
        </p:nvGrpSpPr>
        <p:grpSpPr>
          <a:xfrm rot="0">
            <a:off x="444090" y="1430041"/>
            <a:ext cx="6635980" cy="353060"/>
            <a:chOff x="0" y="0"/>
            <a:chExt cx="8847973" cy="470747"/>
          </a:xfrm>
        </p:grpSpPr>
        <p:sp>
          <p:nvSpPr>
            <p:cNvPr name="TextBox 17" id="17"/>
            <p:cNvSpPr txBox="true"/>
            <p:nvPr/>
          </p:nvSpPr>
          <p:spPr>
            <a:xfrm rot="0">
              <a:off x="6294946" y="9525"/>
              <a:ext cx="2553027" cy="245322"/>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Jul 15–27, 2017</a:t>
              </a:r>
            </a:p>
          </p:txBody>
        </p:sp>
        <p:sp>
          <p:nvSpPr>
            <p:cNvPr name="TextBox 18" id="18"/>
            <p:cNvSpPr txBox="true"/>
            <p:nvPr/>
          </p:nvSpPr>
          <p:spPr>
            <a:xfrm rot="0">
              <a:off x="0" y="-28575"/>
              <a:ext cx="8496000" cy="499322"/>
            </a:xfrm>
            <a:prstGeom prst="rect">
              <a:avLst/>
            </a:prstGeom>
          </p:spPr>
          <p:txBody>
            <a:bodyPr anchor="t" rtlCol="false" tIns="0" lIns="0" bIns="0" rIns="0">
              <a:spAutoFit/>
            </a:bodyPr>
            <a:lstStyle/>
            <a:p>
              <a:pPr algn="l">
                <a:lnSpc>
                  <a:spcPts val="1540"/>
                </a:lnSpc>
              </a:pPr>
              <a:r>
                <a:rPr lang="en-US" sz="1100" b="true">
                  <a:solidFill>
                    <a:srgbClr val="1E1E1E"/>
                  </a:solidFill>
                  <a:latin typeface="Inter Bold"/>
                  <a:ea typeface="Inter Bold"/>
                  <a:cs typeface="Inter Bold"/>
                  <a:sym typeface="Inter Bold"/>
                </a:rPr>
                <a:t>Hydraulic System Training</a:t>
              </a:r>
            </a:p>
            <a:p>
              <a:pPr algn="l">
                <a:lnSpc>
                  <a:spcPts val="1540"/>
                </a:lnSpc>
              </a:pPr>
              <a:r>
                <a:rPr lang="en-US" sz="1100">
                  <a:solidFill>
                    <a:srgbClr val="1E1E1E"/>
                  </a:solidFill>
                  <a:latin typeface="Inter"/>
                  <a:ea typeface="Inter"/>
                  <a:cs typeface="Inter"/>
                  <a:sym typeface="Inter"/>
                </a:rPr>
                <a:t>Sudanese German Factory</a:t>
              </a:r>
            </a:p>
          </p:txBody>
        </p:sp>
      </p:grpSp>
      <p:sp>
        <p:nvSpPr>
          <p:cNvPr name="TextBox 19" id="19"/>
          <p:cNvSpPr txBox="true"/>
          <p:nvPr/>
        </p:nvSpPr>
        <p:spPr>
          <a:xfrm rot="0">
            <a:off x="5165299" y="1887876"/>
            <a:ext cx="1914770" cy="191135"/>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Feb 26–Mar 16, 2017</a:t>
            </a:r>
          </a:p>
        </p:txBody>
      </p:sp>
      <p:sp>
        <p:nvSpPr>
          <p:cNvPr name="TextBox 20" id="20"/>
          <p:cNvSpPr txBox="true"/>
          <p:nvPr/>
        </p:nvSpPr>
        <p:spPr>
          <a:xfrm rot="0">
            <a:off x="444090" y="1859301"/>
            <a:ext cx="6372000" cy="381635"/>
          </a:xfrm>
          <a:prstGeom prst="rect">
            <a:avLst/>
          </a:prstGeom>
        </p:spPr>
        <p:txBody>
          <a:bodyPr anchor="t" rtlCol="false" tIns="0" lIns="0" bIns="0" rIns="0">
            <a:spAutoFit/>
          </a:bodyPr>
          <a:lstStyle/>
          <a:p>
            <a:pPr algn="l">
              <a:lnSpc>
                <a:spcPts val="1540"/>
              </a:lnSpc>
            </a:pPr>
            <a:r>
              <a:rPr lang="en-US" sz="1100" b="true">
                <a:solidFill>
                  <a:srgbClr val="1E1E1E"/>
                </a:solidFill>
                <a:latin typeface="Inter Bold"/>
                <a:ea typeface="Inter Bold"/>
                <a:cs typeface="Inter Bold"/>
                <a:sym typeface="Inter Bold"/>
              </a:rPr>
              <a:t>AutoCAD Design &amp; Drafting</a:t>
            </a:r>
          </a:p>
          <a:p>
            <a:pPr algn="l">
              <a:lnSpc>
                <a:spcPts val="1540"/>
              </a:lnSpc>
            </a:pPr>
            <a:r>
              <a:rPr lang="en-US" sz="1100">
                <a:solidFill>
                  <a:srgbClr val="1E1E1E"/>
                </a:solidFill>
                <a:latin typeface="Inter"/>
                <a:ea typeface="Inter"/>
                <a:cs typeface="Inter"/>
                <a:sym typeface="Inter"/>
              </a:rPr>
              <a:t>Engineer Club</a:t>
            </a:r>
          </a:p>
        </p:txBody>
      </p:sp>
      <p:grpSp>
        <p:nvGrpSpPr>
          <p:cNvPr name="Group 21" id="21"/>
          <p:cNvGrpSpPr/>
          <p:nvPr/>
        </p:nvGrpSpPr>
        <p:grpSpPr>
          <a:xfrm rot="0">
            <a:off x="444090" y="2345711"/>
            <a:ext cx="6635980" cy="353060"/>
            <a:chOff x="0" y="0"/>
            <a:chExt cx="8847973" cy="470747"/>
          </a:xfrm>
        </p:grpSpPr>
        <p:sp>
          <p:nvSpPr>
            <p:cNvPr name="TextBox 22" id="22"/>
            <p:cNvSpPr txBox="true"/>
            <p:nvPr/>
          </p:nvSpPr>
          <p:spPr>
            <a:xfrm rot="0">
              <a:off x="6294946" y="9525"/>
              <a:ext cx="2553027" cy="245322"/>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Mar 9–Apr 9, 2017</a:t>
              </a:r>
            </a:p>
          </p:txBody>
        </p:sp>
        <p:sp>
          <p:nvSpPr>
            <p:cNvPr name="TextBox 23" id="23"/>
            <p:cNvSpPr txBox="true"/>
            <p:nvPr/>
          </p:nvSpPr>
          <p:spPr>
            <a:xfrm rot="0">
              <a:off x="0" y="-28575"/>
              <a:ext cx="8496000" cy="499322"/>
            </a:xfrm>
            <a:prstGeom prst="rect">
              <a:avLst/>
            </a:prstGeom>
          </p:spPr>
          <p:txBody>
            <a:bodyPr anchor="t" rtlCol="false" tIns="0" lIns="0" bIns="0" rIns="0">
              <a:spAutoFit/>
            </a:bodyPr>
            <a:lstStyle/>
            <a:p>
              <a:pPr algn="l">
                <a:lnSpc>
                  <a:spcPts val="1540"/>
                </a:lnSpc>
              </a:pPr>
              <a:r>
                <a:rPr lang="en-US" sz="1100" b="true">
                  <a:solidFill>
                    <a:srgbClr val="1E1E1E"/>
                  </a:solidFill>
                  <a:latin typeface="Inter Bold"/>
                  <a:ea typeface="Inter Bold"/>
                  <a:cs typeface="Inter Bold"/>
                  <a:sym typeface="Inter Bold"/>
                </a:rPr>
                <a:t>Technical Training Course</a:t>
              </a:r>
            </a:p>
            <a:p>
              <a:pPr algn="l">
                <a:lnSpc>
                  <a:spcPts val="1540"/>
                </a:lnSpc>
              </a:pPr>
              <a:r>
                <a:rPr lang="en-US" sz="1100">
                  <a:solidFill>
                    <a:srgbClr val="1E1E1E"/>
                  </a:solidFill>
                  <a:latin typeface="Inter"/>
                  <a:ea typeface="Inter"/>
                  <a:cs typeface="Inter"/>
                  <a:sym typeface="Inter"/>
                </a:rPr>
                <a:t> PDOC (Petrodar Operating Company)</a:t>
              </a:r>
            </a:p>
          </p:txBody>
        </p:sp>
      </p:grpSp>
      <p:grpSp>
        <p:nvGrpSpPr>
          <p:cNvPr name="Group 24" id="24"/>
          <p:cNvGrpSpPr/>
          <p:nvPr/>
        </p:nvGrpSpPr>
        <p:grpSpPr>
          <a:xfrm rot="0">
            <a:off x="444090" y="3289956"/>
            <a:ext cx="6660000" cy="2718955"/>
            <a:chOff x="0" y="0"/>
            <a:chExt cx="8880000" cy="3625273"/>
          </a:xfrm>
        </p:grpSpPr>
        <p:sp>
          <p:nvSpPr>
            <p:cNvPr name="TextBox 25" id="25"/>
            <p:cNvSpPr txBox="true"/>
            <p:nvPr/>
          </p:nvSpPr>
          <p:spPr>
            <a:xfrm rot="0">
              <a:off x="0" y="1874750"/>
              <a:ext cx="6000000" cy="245322"/>
            </a:xfrm>
            <a:prstGeom prst="rect">
              <a:avLst/>
            </a:prstGeom>
          </p:spPr>
          <p:txBody>
            <a:bodyPr anchor="t" rtlCol="false" tIns="0" lIns="0" bIns="0" rIns="0">
              <a:spAutoFit/>
            </a:bodyPr>
            <a:lstStyle/>
            <a:p>
              <a:pPr algn="l">
                <a:lnSpc>
                  <a:spcPts val="1540"/>
                </a:lnSpc>
                <a:spcBef>
                  <a:spcPct val="0"/>
                </a:spcBef>
              </a:pPr>
              <a:r>
                <a:rPr lang="en-US" sz="1100" b="true">
                  <a:solidFill>
                    <a:srgbClr val="1E1E1E"/>
                  </a:solidFill>
                  <a:latin typeface="Inter Semi-Bold"/>
                  <a:ea typeface="Inter Semi-Bold"/>
                  <a:cs typeface="Inter Semi-Bold"/>
                  <a:sym typeface="Inter Semi-Bold"/>
                </a:rPr>
                <a:t>Mechanical Engineer | PETRA Ready Mixed Concrete Co. Ltd.</a:t>
              </a:r>
            </a:p>
          </p:txBody>
        </p:sp>
        <p:sp>
          <p:nvSpPr>
            <p:cNvPr name="TextBox 26" id="26"/>
            <p:cNvSpPr txBox="true"/>
            <p:nvPr/>
          </p:nvSpPr>
          <p:spPr>
            <a:xfrm rot="0">
              <a:off x="141669" y="2363952"/>
              <a:ext cx="8496000" cy="1261322"/>
            </a:xfrm>
            <a:prstGeom prst="rect">
              <a:avLst/>
            </a:prstGeom>
          </p:spPr>
          <p:txBody>
            <a:bodyPr anchor="t" rtlCol="false" tIns="0" lIns="0" bIns="0" rIns="0">
              <a:spAutoFit/>
            </a:bodyPr>
            <a:lstStyle/>
            <a:p>
              <a:pPr algn="l" marL="237491" indent="-118745" lvl="1">
                <a:lnSpc>
                  <a:spcPts val="1540"/>
                </a:lnSpc>
                <a:buFont typeface="Arial"/>
                <a:buChar char="•"/>
              </a:pPr>
              <a:r>
                <a:rPr lang="en-US" sz="1100">
                  <a:solidFill>
                    <a:srgbClr val="1E1E1E"/>
                  </a:solidFill>
                  <a:latin typeface="Inter"/>
                  <a:ea typeface="Inter"/>
                  <a:cs typeface="Inter"/>
                  <a:sym typeface="Inter"/>
                </a:rPr>
                <a:t>Managed repair and preventive maintenance of concrete plant machinery and hydraulic systems.</a:t>
              </a:r>
            </a:p>
            <a:p>
              <a:pPr algn="l" marL="237491" indent="-118745" lvl="1">
                <a:lnSpc>
                  <a:spcPts val="1540"/>
                </a:lnSpc>
                <a:buFont typeface="Arial"/>
                <a:buChar char="•"/>
              </a:pPr>
              <a:r>
                <a:rPr lang="en-US" sz="1100">
                  <a:solidFill>
                    <a:srgbClr val="1E1E1E"/>
                  </a:solidFill>
                  <a:latin typeface="Inter"/>
                  <a:ea typeface="Inter"/>
                  <a:cs typeface="Inter"/>
                  <a:sym typeface="Inter"/>
                </a:rPr>
                <a:t>Designed and optimized mechanical systems to improve production efficiency.</a:t>
              </a:r>
            </a:p>
            <a:p>
              <a:pPr algn="l" marL="237491" indent="-118745" lvl="1">
                <a:lnSpc>
                  <a:spcPts val="1540"/>
                </a:lnSpc>
                <a:buFont typeface="Arial"/>
                <a:buChar char="•"/>
              </a:pPr>
              <a:r>
                <a:rPr lang="en-US" sz="1100">
                  <a:solidFill>
                    <a:srgbClr val="1E1E1E"/>
                  </a:solidFill>
                  <a:latin typeface="Inter"/>
                  <a:ea typeface="Inter"/>
                  <a:cs typeface="Inter"/>
                  <a:sym typeface="Inter"/>
                </a:rPr>
                <a:t>Coordinated with cross-functional teams to maintain smooth daily operations.</a:t>
              </a:r>
            </a:p>
            <a:p>
              <a:pPr algn="l" marL="237491" indent="-118745" lvl="1">
                <a:lnSpc>
                  <a:spcPts val="1540"/>
                </a:lnSpc>
                <a:spcBef>
                  <a:spcPct val="0"/>
                </a:spcBef>
                <a:buFont typeface="Arial"/>
                <a:buChar char="•"/>
              </a:pPr>
              <a:r>
                <a:rPr lang="en-US" sz="1100">
                  <a:solidFill>
                    <a:srgbClr val="1E1E1E"/>
                  </a:solidFill>
                  <a:latin typeface="Inter"/>
                  <a:ea typeface="Inter"/>
                  <a:cs typeface="Inter"/>
                  <a:sym typeface="Inter"/>
                </a:rPr>
                <a:t>Ensured adherence to safety regulations and technical performance targets.</a:t>
              </a:r>
            </a:p>
          </p:txBody>
        </p:sp>
        <p:sp>
          <p:nvSpPr>
            <p:cNvPr name="AutoShape 27" id="27"/>
            <p:cNvSpPr/>
            <p:nvPr/>
          </p:nvSpPr>
          <p:spPr>
            <a:xfrm>
              <a:off x="0" y="323442"/>
              <a:ext cx="8880000" cy="0"/>
            </a:xfrm>
            <a:prstGeom prst="line">
              <a:avLst/>
            </a:prstGeom>
            <a:ln cap="rnd" w="12700">
              <a:solidFill>
                <a:srgbClr val="1E1E1E"/>
              </a:solidFill>
              <a:prstDash val="solid"/>
              <a:headEnd type="none" len="sm" w="sm"/>
              <a:tailEnd type="none" len="sm" w="sm"/>
            </a:ln>
          </p:spPr>
        </p:sp>
        <p:sp>
          <p:nvSpPr>
            <p:cNvPr name="TextBox 28" id="28"/>
            <p:cNvSpPr txBox="true"/>
            <p:nvPr/>
          </p:nvSpPr>
          <p:spPr>
            <a:xfrm rot="0">
              <a:off x="0" y="-28575"/>
              <a:ext cx="6000000" cy="280035"/>
            </a:xfrm>
            <a:prstGeom prst="rect">
              <a:avLst/>
            </a:prstGeom>
          </p:spPr>
          <p:txBody>
            <a:bodyPr anchor="t" rtlCol="false" tIns="0" lIns="0" bIns="0" rIns="0">
              <a:spAutoFit/>
            </a:bodyPr>
            <a:lstStyle/>
            <a:p>
              <a:pPr algn="l">
                <a:lnSpc>
                  <a:spcPts val="1679"/>
                </a:lnSpc>
                <a:spcBef>
                  <a:spcPct val="0"/>
                </a:spcBef>
              </a:pPr>
              <a:r>
                <a:rPr lang="en-US" sz="1200" b="true">
                  <a:solidFill>
                    <a:srgbClr val="1E1E1E"/>
                  </a:solidFill>
                  <a:latin typeface="Inter Semi-Bold"/>
                  <a:ea typeface="Inter Semi-Bold"/>
                  <a:cs typeface="Inter Semi-Bold"/>
                  <a:sym typeface="Inter Semi-Bold"/>
                </a:rPr>
                <a:t>Professional Experience</a:t>
              </a:r>
            </a:p>
          </p:txBody>
        </p:sp>
        <p:sp>
          <p:nvSpPr>
            <p:cNvPr name="TextBox 29" id="29"/>
            <p:cNvSpPr txBox="true"/>
            <p:nvPr/>
          </p:nvSpPr>
          <p:spPr>
            <a:xfrm rot="0">
              <a:off x="15761" y="377417"/>
              <a:ext cx="6000000" cy="245322"/>
            </a:xfrm>
            <a:prstGeom prst="rect">
              <a:avLst/>
            </a:prstGeom>
          </p:spPr>
          <p:txBody>
            <a:bodyPr anchor="t" rtlCol="false" tIns="0" lIns="0" bIns="0" rIns="0">
              <a:spAutoFit/>
            </a:bodyPr>
            <a:lstStyle/>
            <a:p>
              <a:pPr algn="l">
                <a:lnSpc>
                  <a:spcPts val="1540"/>
                </a:lnSpc>
                <a:spcBef>
                  <a:spcPct val="0"/>
                </a:spcBef>
              </a:pPr>
              <a:r>
                <a:rPr lang="en-US" sz="1100" b="true">
                  <a:solidFill>
                    <a:srgbClr val="1E1E1E"/>
                  </a:solidFill>
                  <a:latin typeface="Inter Semi-Bold"/>
                  <a:ea typeface="Inter Semi-Bold"/>
                  <a:cs typeface="Inter Semi-Bold"/>
                  <a:sym typeface="Inter Semi-Bold"/>
                </a:rPr>
                <a:t>Mechanical Engineer | SAPTCO – Saudi Public Transport Company</a:t>
              </a:r>
            </a:p>
          </p:txBody>
        </p:sp>
        <p:sp>
          <p:nvSpPr>
            <p:cNvPr name="TextBox 30" id="30"/>
            <p:cNvSpPr txBox="true"/>
            <p:nvPr/>
          </p:nvSpPr>
          <p:spPr>
            <a:xfrm rot="0">
              <a:off x="141669" y="743604"/>
              <a:ext cx="8496000" cy="1007322"/>
            </a:xfrm>
            <a:prstGeom prst="rect">
              <a:avLst/>
            </a:prstGeom>
          </p:spPr>
          <p:txBody>
            <a:bodyPr anchor="t" rtlCol="false" tIns="0" lIns="0" bIns="0" rIns="0">
              <a:spAutoFit/>
            </a:bodyPr>
            <a:lstStyle/>
            <a:p>
              <a:pPr algn="l" marL="237491" indent="-118745" lvl="1">
                <a:lnSpc>
                  <a:spcPts val="1540"/>
                </a:lnSpc>
                <a:buFont typeface="Arial"/>
                <a:buChar char="•"/>
              </a:pPr>
              <a:r>
                <a:rPr lang="en-US" sz="1100">
                  <a:solidFill>
                    <a:srgbClr val="1E1E1E"/>
                  </a:solidFill>
                  <a:latin typeface="Inter"/>
                  <a:ea typeface="Inter"/>
                  <a:cs typeface="Inter"/>
                  <a:sym typeface="Inter"/>
                </a:rPr>
                <a:t>Supervise and maintain mechanical systems and heavy vehicle operations.</a:t>
              </a:r>
            </a:p>
            <a:p>
              <a:pPr algn="l" marL="237491" indent="-118745" lvl="1">
                <a:lnSpc>
                  <a:spcPts val="1540"/>
                </a:lnSpc>
                <a:buFont typeface="Arial"/>
                <a:buChar char="•"/>
              </a:pPr>
              <a:r>
                <a:rPr lang="en-US" sz="1100">
                  <a:solidFill>
                    <a:srgbClr val="1E1E1E"/>
                  </a:solidFill>
                  <a:latin typeface="Inter"/>
                  <a:ea typeface="Inter"/>
                  <a:cs typeface="Inter"/>
                  <a:sym typeface="Inter"/>
                </a:rPr>
                <a:t>Ensure compliance with safety, quality, and environmental standards.</a:t>
              </a:r>
            </a:p>
            <a:p>
              <a:pPr algn="l" marL="237491" indent="-118745" lvl="1">
                <a:lnSpc>
                  <a:spcPts val="1540"/>
                </a:lnSpc>
                <a:buFont typeface="Arial"/>
                <a:buChar char="•"/>
              </a:pPr>
              <a:r>
                <a:rPr lang="en-US" sz="1100">
                  <a:solidFill>
                    <a:srgbClr val="1E1E1E"/>
                  </a:solidFill>
                  <a:latin typeface="Inter"/>
                  <a:ea typeface="Inter"/>
                  <a:cs typeface="Inter"/>
                  <a:sym typeface="Inter"/>
                </a:rPr>
                <a:t>Plan and monitor maintenance schedules to enhance efficiency and reduce downtime.</a:t>
              </a:r>
            </a:p>
            <a:p>
              <a:pPr algn="l" marL="237491" indent="-118745" lvl="1">
                <a:lnSpc>
                  <a:spcPts val="1540"/>
                </a:lnSpc>
                <a:spcBef>
                  <a:spcPct val="0"/>
                </a:spcBef>
                <a:buFont typeface="Arial"/>
                <a:buChar char="•"/>
              </a:pPr>
              <a:r>
                <a:rPr lang="en-US" sz="1100">
                  <a:solidFill>
                    <a:srgbClr val="1E1E1E"/>
                  </a:solidFill>
                  <a:latin typeface="Inter"/>
                  <a:ea typeface="Inter"/>
                  <a:cs typeface="Inter"/>
                  <a:sym typeface="Inter"/>
                </a:rPr>
                <a:t>Lead technical teams in troubleshooting, performance analysis, and process improvement.</a:t>
              </a:r>
            </a:p>
          </p:txBody>
        </p:sp>
        <p:sp>
          <p:nvSpPr>
            <p:cNvPr name="TextBox 31" id="31"/>
            <p:cNvSpPr txBox="true"/>
            <p:nvPr/>
          </p:nvSpPr>
          <p:spPr>
            <a:xfrm rot="0">
              <a:off x="6294946" y="401193"/>
              <a:ext cx="2553027" cy="245322"/>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Nov 30, 2022 – Present</a:t>
              </a:r>
            </a:p>
          </p:txBody>
        </p:sp>
        <p:sp>
          <p:nvSpPr>
            <p:cNvPr name="TextBox 32" id="32"/>
            <p:cNvSpPr txBox="true"/>
            <p:nvPr/>
          </p:nvSpPr>
          <p:spPr>
            <a:xfrm rot="0">
              <a:off x="6294946" y="1861056"/>
              <a:ext cx="2553027" cy="245322"/>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Jul 3, 2018 – Nov 16, 2022</a:t>
              </a:r>
            </a:p>
          </p:txBody>
        </p:sp>
      </p:grpSp>
      <p:grpSp>
        <p:nvGrpSpPr>
          <p:cNvPr name="Group 33" id="33"/>
          <p:cNvGrpSpPr/>
          <p:nvPr/>
        </p:nvGrpSpPr>
        <p:grpSpPr>
          <a:xfrm rot="0">
            <a:off x="444090" y="2803546"/>
            <a:ext cx="6635980" cy="353060"/>
            <a:chOff x="0" y="0"/>
            <a:chExt cx="8847973" cy="470747"/>
          </a:xfrm>
        </p:grpSpPr>
        <p:sp>
          <p:nvSpPr>
            <p:cNvPr name="TextBox 34" id="34"/>
            <p:cNvSpPr txBox="true"/>
            <p:nvPr/>
          </p:nvSpPr>
          <p:spPr>
            <a:xfrm rot="0">
              <a:off x="6294946" y="9525"/>
              <a:ext cx="2553027" cy="245322"/>
            </a:xfrm>
            <a:prstGeom prst="rect">
              <a:avLst/>
            </a:prstGeom>
          </p:spPr>
          <p:txBody>
            <a:bodyPr anchor="t" rtlCol="false" tIns="0" lIns="0" bIns="0" rIns="0">
              <a:spAutoFit/>
            </a:bodyPr>
            <a:lstStyle/>
            <a:p>
              <a:pPr algn="r">
                <a:lnSpc>
                  <a:spcPts val="1540"/>
                </a:lnSpc>
                <a:spcBef>
                  <a:spcPct val="0"/>
                </a:spcBef>
              </a:pPr>
              <a:r>
                <a:rPr lang="en-US" b="true" sz="1100">
                  <a:solidFill>
                    <a:srgbClr val="1E1E1E"/>
                  </a:solidFill>
                  <a:latin typeface="Inter Semi-Bold"/>
                  <a:ea typeface="Inter Semi-Bold"/>
                  <a:cs typeface="Inter Semi-Bold"/>
                  <a:sym typeface="Inter Semi-Bold"/>
                </a:rPr>
                <a:t>Mar 9–Apr 9, 2017</a:t>
              </a:r>
            </a:p>
          </p:txBody>
        </p:sp>
        <p:sp>
          <p:nvSpPr>
            <p:cNvPr name="TextBox 35" id="35"/>
            <p:cNvSpPr txBox="true"/>
            <p:nvPr/>
          </p:nvSpPr>
          <p:spPr>
            <a:xfrm rot="0">
              <a:off x="0" y="-28575"/>
              <a:ext cx="8496000" cy="499322"/>
            </a:xfrm>
            <a:prstGeom prst="rect">
              <a:avLst/>
            </a:prstGeom>
          </p:spPr>
          <p:txBody>
            <a:bodyPr anchor="t" rtlCol="false" tIns="0" lIns="0" bIns="0" rIns="0">
              <a:spAutoFit/>
            </a:bodyPr>
            <a:lstStyle/>
            <a:p>
              <a:pPr algn="l">
                <a:lnSpc>
                  <a:spcPts val="1540"/>
                </a:lnSpc>
              </a:pPr>
              <a:r>
                <a:rPr lang="en-US" sz="1100" b="true">
                  <a:solidFill>
                    <a:srgbClr val="1E1E1E"/>
                  </a:solidFill>
                  <a:latin typeface="Inter Bold"/>
                  <a:ea typeface="Inter Bold"/>
                  <a:cs typeface="Inter Bold"/>
                  <a:sym typeface="Inter Bold"/>
                </a:rPr>
                <a:t>Technical Training Course</a:t>
              </a:r>
            </a:p>
            <a:p>
              <a:pPr algn="l">
                <a:lnSpc>
                  <a:spcPts val="1540"/>
                </a:lnSpc>
              </a:pPr>
              <a:r>
                <a:rPr lang="en-US" sz="1100">
                  <a:solidFill>
                    <a:srgbClr val="1E1E1E"/>
                  </a:solidFill>
                  <a:latin typeface="Inter"/>
                  <a:ea typeface="Inter"/>
                  <a:cs typeface="Inter"/>
                  <a:sym typeface="Inter"/>
                </a:rPr>
                <a:t> PDOC (Petrodar Operating Company)</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DAG1TXHQrvg</dc:identifier>
  <dcterms:modified xsi:type="dcterms:W3CDTF">2011-08-01T06:04:30Z</dcterms:modified>
  <cp:revision>1</cp:revision>
  <dc:title>AHMAD Aboud AHMAD MOHAMED AL-HASSAN</dc:title>
</cp:coreProperties>
</file>